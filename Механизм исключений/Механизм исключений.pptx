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4" r:id="rId5"/>
    <p:sldId id="261" r:id="rId6"/>
    <p:sldId id="259" r:id="rId7"/>
    <p:sldId id="260" r:id="rId8"/>
    <p:sldId id="262" r:id="rId9"/>
    <p:sldId id="263" r:id="rId10"/>
    <p:sldId id="267" r:id="rId11"/>
    <p:sldId id="265" r:id="rId12"/>
    <p:sldId id="266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166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110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A11A7C-7BC7-76F2-7638-F728CEBF9F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04FBF34-4ECA-C2B2-1F1A-20E5390C73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3D00144-81C5-308D-C4CF-41DD8398D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44460-C2DB-4A8A-90DD-6F0E1464CE75}" type="datetimeFigureOut">
              <a:rPr lang="ru-RU" smtClean="0"/>
              <a:t>01.05.2026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3F641CF-6C9F-36E3-AB42-5819589FF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B8A84C0-BEDE-7E70-C5DC-6F61DF206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68ABB-9A19-4308-A09C-1E10717FEC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801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130D24-07CC-6F31-6EC9-9A6EB9FFE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C41C809-23C4-E7D8-6836-935B94F43B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97E3241-895D-7D3F-7CC6-6BB3D8274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44460-C2DB-4A8A-90DD-6F0E1464CE75}" type="datetimeFigureOut">
              <a:rPr lang="ru-RU" smtClean="0"/>
              <a:t>01.05.2026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D204DA0-5BA9-90C2-DFA2-D41F9A313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04CFA6F-3054-5E1E-5E2E-4A0E3A4C0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68ABB-9A19-4308-A09C-1E10717FEC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69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B7D6C5-9257-B822-A039-005165469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C40FB3F-73F0-0FC4-149E-E5DD5AB9EE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713E4FA-15B6-2A6C-B0E7-EE704AFB3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44460-C2DB-4A8A-90DD-6F0E1464CE75}" type="datetimeFigureOut">
              <a:rPr lang="ru-RU" smtClean="0"/>
              <a:t>01.05.2026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7A4E28F-5E29-744E-363E-60DDA4914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79BBE4F-4C31-2749-3CEF-CABDC2CB3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68ABB-9A19-4308-A09C-1E10717FEC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330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055BB0-B7A3-E608-BEE1-04A25F1F6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0544497-94E9-9C92-31BA-50BA74E28F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67CFFC0-C067-66EE-63B2-F6CB1DE67B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46BF2AD-DED5-6F01-B2D2-531D4C876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44460-C2DB-4A8A-90DD-6F0E1464CE75}" type="datetimeFigureOut">
              <a:rPr lang="ru-RU" smtClean="0"/>
              <a:t>01.05.2026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59A808E-3E72-DC66-BA56-02392E7FF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152695E-B7C8-7B89-208C-5F552E128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68ABB-9A19-4308-A09C-1E10717FEC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4219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5E6E27-3A22-B85F-E57C-1DBED8229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93B4E7E-1030-863A-68A8-112BB86336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59A8AFF-2866-4EA1-F9B2-3EF3AE5822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6B41B3C-22AD-2463-88B7-0EB4807D88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C730977-4245-0B11-2E6F-E07A7934AC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8B3728B-F732-3584-F0D4-D970E1585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44460-C2DB-4A8A-90DD-6F0E1464CE75}" type="datetimeFigureOut">
              <a:rPr lang="ru-RU" smtClean="0"/>
              <a:t>01.05.2026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5F667AC-8559-B872-D24A-BDEA5F6DC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5E84DF0-8391-5604-0317-5ABB5777C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68ABB-9A19-4308-A09C-1E10717FEC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62927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61C320-7024-D47B-5A82-CFE559B25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968E546-9E32-BDDA-F059-7EFFDE1A7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44460-C2DB-4A8A-90DD-6F0E1464CE75}" type="datetimeFigureOut">
              <a:rPr lang="ru-RU" smtClean="0"/>
              <a:t>01.05.2026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1E69C17-BD00-31A1-3253-CE3EDE76C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975C97F-B63E-35FB-174C-97BF8DBD0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68ABB-9A19-4308-A09C-1E10717FEC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1841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6C19AD6-91F6-E236-7B75-6813BA029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44460-C2DB-4A8A-90DD-6F0E1464CE75}" type="datetimeFigureOut">
              <a:rPr lang="ru-RU" smtClean="0"/>
              <a:t>01.05.2026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A3C5D76-15B6-1D27-5927-035A17BB9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926D6D0-FD06-A5B9-4CFD-171E6C143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68ABB-9A19-4308-A09C-1E10717FEC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4340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EDAD34-2D87-C2F3-B19C-BBA726C55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1D513B-7D70-C2F8-4187-0D6C4F2EEE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934EFB9-611F-2FCE-09D5-0335A4D9AF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3F4E8F1-0C0F-E313-B398-D0040413E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44460-C2DB-4A8A-90DD-6F0E1464CE75}" type="datetimeFigureOut">
              <a:rPr lang="ru-RU" smtClean="0"/>
              <a:t>01.05.2026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346CE73-A661-949D-CE6A-2B4E36C16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2D7017C-BDF0-DC36-37AA-6634256F4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68ABB-9A19-4308-A09C-1E10717FEC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5963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EE876C-6CDE-FE4B-061E-31CBCAA15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E01833C-0381-3D3F-B8F5-9D3FEE5860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5AC8CD3-344F-178F-E896-9A5FBCF2CE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12D422E-4F88-A9F1-27FA-46A0103CD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44460-C2DB-4A8A-90DD-6F0E1464CE75}" type="datetimeFigureOut">
              <a:rPr lang="ru-RU" smtClean="0"/>
              <a:t>01.05.2026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E613736-7D3D-7BAB-D9C5-6CCDBD6B1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EE911C7-0A03-BD82-11A0-7EF1E31F4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68ABB-9A19-4308-A09C-1E10717FEC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2879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D1ECAD-41D0-9E5B-2818-20A9ABDE6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EBB6AD2-EE5B-2DF6-AB14-19644C3514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97C2589-AA32-9406-B1EF-91BBF0256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44460-C2DB-4A8A-90DD-6F0E1464CE75}" type="datetimeFigureOut">
              <a:rPr lang="ru-RU" smtClean="0"/>
              <a:t>01.05.2026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786D911-2694-82E4-5385-DE8C9E897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43CDE0B-8F92-D033-7AC8-6D4F013B8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68ABB-9A19-4308-A09C-1E10717FEC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1359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B1F9AB4-40CD-F5BB-D687-F07985F044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27DF587-DB8F-9C21-F465-EFC22E59A7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FF21C1A-7012-3E20-11A6-74850C86E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44460-C2DB-4A8A-90DD-6F0E1464CE75}" type="datetimeFigureOut">
              <a:rPr lang="ru-RU" smtClean="0"/>
              <a:t>01.05.2026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0F1E924-7649-51F7-C739-E6F83FEE5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937539-2D71-3B5D-DAFC-2E5DC72BA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68ABB-9A19-4308-A09C-1E10717FEC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9872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9A7FD4-F3F0-A9FC-38FC-9A0E7A0B7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AA5883A-CC22-0E28-320F-FA12804ED8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31E9910-2128-6D90-03A8-30A1C1C763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044460-C2DB-4A8A-90DD-6F0E1464CE75}" type="datetimeFigureOut">
              <a:rPr lang="ru-RU" smtClean="0"/>
              <a:t>01.05.2026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2C4D0AA-ADDF-D722-4DEE-5F99A60B12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3D02C7D-B4B7-4691-D798-4B8DC9C529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F68ABB-9A19-4308-A09C-1E10717FEC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8031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1A4F23C-5FC4-BF7C-1C51-2A8F41567F87}"/>
              </a:ext>
            </a:extLst>
          </p:cNvPr>
          <p:cNvSpPr/>
          <p:nvPr/>
        </p:nvSpPr>
        <p:spPr>
          <a:xfrm>
            <a:off x="0" y="-2"/>
            <a:ext cx="12192000" cy="685800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85CFF48C-7A6E-5920-5451-F8B8F7C87DFE}"/>
              </a:ext>
            </a:extLst>
          </p:cNvPr>
          <p:cNvSpPr/>
          <p:nvPr/>
        </p:nvSpPr>
        <p:spPr>
          <a:xfrm>
            <a:off x="-2285622" y="3108959"/>
            <a:ext cx="16763243" cy="3924045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E24123-9068-9A2C-06C2-1732F1D3CC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6116" y="1891274"/>
            <a:ext cx="8014411" cy="1256813"/>
          </a:xfrm>
        </p:spPr>
        <p:txBody>
          <a:bodyPr/>
          <a:lstStyle/>
          <a:p>
            <a:pPr algn="l"/>
            <a:r>
              <a:rPr lang="ru-RU" dirty="0">
                <a:latin typeface="Franklin Gothic Heavy" panose="020B0903020102020204" pitchFamily="34" charset="0"/>
              </a:rPr>
              <a:t>Механизм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D17E444-F5A5-A074-C1B9-503DC17CB3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15434" y="5557960"/>
            <a:ext cx="2580380" cy="1140552"/>
          </a:xfrm>
        </p:spPr>
        <p:txBody>
          <a:bodyPr>
            <a:normAutofit/>
          </a:bodyPr>
          <a:lstStyle/>
          <a:p>
            <a:pPr algn="r"/>
            <a:r>
              <a:rPr lang="ru-RU" sz="1400" dirty="0">
                <a:solidFill>
                  <a:schemeClr val="bg1"/>
                </a:solidFill>
                <a:latin typeface="Arial Black" panose="020B0A04020102020204" pitchFamily="34" charset="0"/>
              </a:rPr>
              <a:t>Работу выполнила: Шитикова Ксения </a:t>
            </a:r>
          </a:p>
          <a:p>
            <a:pPr algn="r"/>
            <a:r>
              <a:rPr lang="ru-RU" sz="1400" dirty="0">
                <a:solidFill>
                  <a:schemeClr val="bg1"/>
                </a:solidFill>
                <a:latin typeface="Arial Black" panose="020B0A04020102020204" pitchFamily="34" charset="0"/>
              </a:rPr>
              <a:t>гр. 5030102/40004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36A362-BCC0-3946-1B96-3EAA29CEC622}"/>
              </a:ext>
            </a:extLst>
          </p:cNvPr>
          <p:cNvSpPr txBox="1"/>
          <p:nvPr/>
        </p:nvSpPr>
        <p:spPr>
          <a:xfrm>
            <a:off x="2106592" y="3108959"/>
            <a:ext cx="789393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60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исключений</a:t>
            </a:r>
            <a:endParaRPr lang="ru-RU" sz="6000" dirty="0"/>
          </a:p>
        </p:txBody>
      </p:sp>
    </p:spTree>
    <p:extLst>
      <p:ext uri="{BB962C8B-B14F-4D97-AF65-F5344CB8AC3E}">
        <p14:creationId xmlns:p14="http://schemas.microsoft.com/office/powerpoint/2010/main" val="35200501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704BB-429A-0E2E-E641-4B91F9F8B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F701D31-686E-6E00-65BF-2ED305C4F19F}"/>
              </a:ext>
            </a:extLst>
          </p:cNvPr>
          <p:cNvSpPr/>
          <p:nvPr/>
        </p:nvSpPr>
        <p:spPr>
          <a:xfrm>
            <a:off x="0" y="-2"/>
            <a:ext cx="12192000" cy="739622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A8026C5A-3F9C-1858-C4C7-DF1A08752B84}"/>
              </a:ext>
            </a:extLst>
          </p:cNvPr>
          <p:cNvSpPr/>
          <p:nvPr/>
        </p:nvSpPr>
        <p:spPr>
          <a:xfrm>
            <a:off x="-219919" y="1539433"/>
            <a:ext cx="12546957" cy="5694746"/>
          </a:xfrm>
          <a:prstGeom prst="roundRect">
            <a:avLst>
              <a:gd name="adj" fmla="val 0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C91EED-7613-D85F-B85B-838B35F66E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9511" y="273735"/>
            <a:ext cx="8014411" cy="1001655"/>
          </a:xfrm>
        </p:spPr>
        <p:txBody>
          <a:bodyPr>
            <a:normAutofit/>
          </a:bodyPr>
          <a:lstStyle/>
          <a:p>
            <a:pPr algn="l"/>
            <a:r>
              <a:rPr lang="ru-RU" dirty="0">
                <a:latin typeface="Franklin Gothic Heavy" panose="020B0903020102020204" pitchFamily="34" charset="0"/>
              </a:rPr>
              <a:t>Исключения в </a:t>
            </a:r>
            <a:r>
              <a:rPr lang="en-US" dirty="0">
                <a:latin typeface="Franklin Gothic Heavy" panose="020B0903020102020204" pitchFamily="34" charset="0"/>
              </a:rPr>
              <a:t>Java</a:t>
            </a:r>
            <a:endParaRPr lang="ru-RU" dirty="0">
              <a:latin typeface="Franklin Gothic Heavy" panose="020B0903020102020204" pitchFamily="34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66F2171-1008-8821-8DE1-A0C33F4D41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75062" y="5717448"/>
            <a:ext cx="2041874" cy="1140552"/>
          </a:xfrm>
        </p:spPr>
        <p:txBody>
          <a:bodyPr>
            <a:normAutofit/>
          </a:bodyPr>
          <a:lstStyle/>
          <a:p>
            <a:endParaRPr lang="ru-RU" sz="1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C0EFDF-B204-6CC4-4C94-E7D73894B830}"/>
              </a:ext>
            </a:extLst>
          </p:cNvPr>
          <p:cNvSpPr txBox="1"/>
          <p:nvPr/>
        </p:nvSpPr>
        <p:spPr>
          <a:xfrm>
            <a:off x="859511" y="1863524"/>
            <a:ext cx="455744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- это механизм для обработки ошибок и непредвиденных ситуаций, возникающих во время выполнения программы. </a:t>
            </a:r>
          </a:p>
        </p:txBody>
      </p:sp>
    </p:spTree>
    <p:extLst>
      <p:ext uri="{BB962C8B-B14F-4D97-AF65-F5344CB8AC3E}">
        <p14:creationId xmlns:p14="http://schemas.microsoft.com/office/powerpoint/2010/main" val="9930266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BC0AE-DBF9-0E34-FDF7-5622686DC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E8640CC-65AD-398D-1EBD-B912BCDD53A1}"/>
              </a:ext>
            </a:extLst>
          </p:cNvPr>
          <p:cNvSpPr/>
          <p:nvPr/>
        </p:nvSpPr>
        <p:spPr>
          <a:xfrm>
            <a:off x="0" y="-2"/>
            <a:ext cx="12192000" cy="739622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EF3E2CA5-3FC2-7B57-ADB8-686FD4331D38}"/>
              </a:ext>
            </a:extLst>
          </p:cNvPr>
          <p:cNvSpPr/>
          <p:nvPr/>
        </p:nvSpPr>
        <p:spPr>
          <a:xfrm>
            <a:off x="-219919" y="1539433"/>
            <a:ext cx="12546957" cy="5694746"/>
          </a:xfrm>
          <a:prstGeom prst="roundRect">
            <a:avLst>
              <a:gd name="adj" fmla="val 0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223EB8-CA32-1408-E119-3A4544E837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9511" y="273735"/>
            <a:ext cx="8840074" cy="1001655"/>
          </a:xfrm>
        </p:spPr>
        <p:txBody>
          <a:bodyPr>
            <a:normAutofit/>
          </a:bodyPr>
          <a:lstStyle/>
          <a:p>
            <a:pPr algn="l"/>
            <a:r>
              <a:rPr lang="ru-RU" dirty="0">
                <a:latin typeface="Franklin Gothic Heavy" panose="020B0903020102020204" pitchFamily="34" charset="0"/>
              </a:rPr>
              <a:t>Механизм исключений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8BD8514-1F3F-8F71-4627-39C2F9F5B0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9511" y="2060293"/>
            <a:ext cx="10043841" cy="4247910"/>
          </a:xfrm>
        </p:spPr>
        <p:txBody>
          <a:bodyPr>
            <a:normAutofit/>
          </a:bodyPr>
          <a:lstStyle/>
          <a:p>
            <a:pPr marL="342900" indent="-342900" algn="l" fontAlgn="ctr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Отделение нормальной логики от обработки ошибок. </a:t>
            </a:r>
          </a:p>
          <a:p>
            <a:pPr marL="342900" indent="-342900" algn="l" fontAlgn="ctr">
              <a:buFont typeface="Arial" panose="020B0604020202020204" pitchFamily="34" charset="0"/>
              <a:buChar char="•"/>
            </a:pPr>
            <a:r>
              <a:rPr lang="ru-RU" sz="2800" dirty="0" err="1">
                <a:solidFill>
                  <a:schemeClr val="bg1"/>
                </a:solidFill>
                <a:latin typeface="Franklin Gothic Heavy" panose="020B0903020102020204" pitchFamily="34" charset="0"/>
              </a:rPr>
              <a:t>Пропагация</a:t>
            </a:r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 ошибок вверх по стеку вызовов. </a:t>
            </a:r>
          </a:p>
          <a:p>
            <a:pPr marL="342900" indent="-342900" algn="l" fontAlgn="ctr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Группировка и классификация ошибок. </a:t>
            </a:r>
            <a:endParaRPr lang="ru-RU" sz="1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7842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39E36-7333-9763-6F37-4A7D99FBA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9C7EC71-E2B4-CC4A-A81E-B70558FC6207}"/>
              </a:ext>
            </a:extLst>
          </p:cNvPr>
          <p:cNvSpPr/>
          <p:nvPr/>
        </p:nvSpPr>
        <p:spPr>
          <a:xfrm>
            <a:off x="0" y="-2"/>
            <a:ext cx="12192000" cy="739622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78F989BB-2485-AD8B-796F-580117F71F81}"/>
              </a:ext>
            </a:extLst>
          </p:cNvPr>
          <p:cNvSpPr/>
          <p:nvPr/>
        </p:nvSpPr>
        <p:spPr>
          <a:xfrm>
            <a:off x="-219919" y="1539433"/>
            <a:ext cx="12546957" cy="5694746"/>
          </a:xfrm>
          <a:prstGeom prst="roundRect">
            <a:avLst>
              <a:gd name="adj" fmla="val 0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75BD03-0FAE-7ABE-29B7-EBE2452A92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9511" y="273735"/>
            <a:ext cx="8840074" cy="1001655"/>
          </a:xfrm>
        </p:spPr>
        <p:txBody>
          <a:bodyPr>
            <a:normAutofit/>
          </a:bodyPr>
          <a:lstStyle/>
          <a:p>
            <a:pPr algn="l"/>
            <a:r>
              <a:rPr lang="ru-RU" dirty="0">
                <a:latin typeface="Franklin Gothic Heavy" panose="020B0903020102020204" pitchFamily="34" charset="0"/>
              </a:rPr>
              <a:t>Механизм исключений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C383F60-2D3A-3693-A3E4-EF73A24FC8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9511" y="2060293"/>
            <a:ext cx="10043841" cy="4247910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ru-RU" sz="3000" dirty="0" err="1">
                <a:solidFill>
                  <a:schemeClr val="bg1"/>
                </a:solidFill>
                <a:latin typeface="Franklin Gothic Heavy" panose="020B0903020102020204" pitchFamily="34" charset="0"/>
              </a:rPr>
              <a:t>try</a:t>
            </a:r>
            <a:r>
              <a:rPr lang="ru-RU" sz="30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 </a:t>
            </a:r>
            <a:endParaRPr lang="en-US" sz="3000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  <a:p>
            <a:pPr algn="l"/>
            <a:r>
              <a:rPr lang="ru-RU" sz="30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–</a:t>
            </a:r>
            <a:r>
              <a:rPr lang="en-US" sz="30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 </a:t>
            </a:r>
            <a:r>
              <a:rPr lang="ru-RU" sz="30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определяет блок кода, в котором может произойти исключение;</a:t>
            </a:r>
          </a:p>
          <a:p>
            <a:pPr algn="l"/>
            <a:r>
              <a:rPr lang="ru-RU" sz="3000" dirty="0" err="1">
                <a:solidFill>
                  <a:schemeClr val="bg1"/>
                </a:solidFill>
                <a:latin typeface="Franklin Gothic Heavy" panose="020B0903020102020204" pitchFamily="34" charset="0"/>
              </a:rPr>
              <a:t>catch</a:t>
            </a:r>
            <a:r>
              <a:rPr lang="ru-RU" sz="30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 </a:t>
            </a:r>
            <a:endParaRPr lang="en-US" sz="3000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  <a:p>
            <a:pPr algn="l"/>
            <a:r>
              <a:rPr lang="ru-RU" sz="30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– определяет блок кода, в котором происходит обработка исключения;</a:t>
            </a:r>
          </a:p>
          <a:p>
            <a:pPr algn="l"/>
            <a:r>
              <a:rPr lang="ru-RU" sz="3000" dirty="0" err="1">
                <a:solidFill>
                  <a:schemeClr val="bg1"/>
                </a:solidFill>
                <a:latin typeface="Franklin Gothic Heavy" panose="020B0903020102020204" pitchFamily="34" charset="0"/>
              </a:rPr>
              <a:t>finally</a:t>
            </a:r>
            <a:r>
              <a:rPr lang="ru-RU" sz="30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 </a:t>
            </a:r>
            <a:endParaRPr lang="en-US" sz="3000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  <a:p>
            <a:pPr algn="l"/>
            <a:r>
              <a:rPr lang="ru-RU" sz="30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– определяет блок кода, который является необязательным, но при его наличии выполняется в любом случае независимо от результатов выполнения блока </a:t>
            </a:r>
            <a:r>
              <a:rPr lang="ru-RU" sz="3000" dirty="0" err="1">
                <a:solidFill>
                  <a:schemeClr val="bg1"/>
                </a:solidFill>
                <a:latin typeface="Franklin Gothic Heavy" panose="020B0903020102020204" pitchFamily="34" charset="0"/>
              </a:rPr>
              <a:t>try</a:t>
            </a:r>
            <a:r>
              <a:rPr lang="ru-RU" sz="30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19717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74171-DF37-6FD2-DE8C-0B9006CF2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8D6FD13-61F4-4E91-8237-FEC8DACB2E38}"/>
              </a:ext>
            </a:extLst>
          </p:cNvPr>
          <p:cNvSpPr/>
          <p:nvPr/>
        </p:nvSpPr>
        <p:spPr>
          <a:xfrm>
            <a:off x="0" y="-1"/>
            <a:ext cx="12192000" cy="685800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51EFBFD7-4C6A-62E5-E196-32506743F790}"/>
              </a:ext>
            </a:extLst>
          </p:cNvPr>
          <p:cNvSpPr/>
          <p:nvPr/>
        </p:nvSpPr>
        <p:spPr>
          <a:xfrm>
            <a:off x="-219919" y="1539433"/>
            <a:ext cx="12546957" cy="5318567"/>
          </a:xfrm>
          <a:prstGeom prst="roundRect">
            <a:avLst>
              <a:gd name="adj" fmla="val 0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C16DC2-2A83-8D59-C2BC-868301C7C7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9511" y="273735"/>
            <a:ext cx="8840074" cy="1001655"/>
          </a:xfrm>
        </p:spPr>
        <p:txBody>
          <a:bodyPr>
            <a:normAutofit fontScale="90000"/>
          </a:bodyPr>
          <a:lstStyle/>
          <a:p>
            <a:pPr algn="l"/>
            <a:r>
              <a:rPr lang="ru-RU" dirty="0">
                <a:latin typeface="Franklin Gothic Heavy" panose="020B0903020102020204" pitchFamily="34" charset="0"/>
              </a:rPr>
              <a:t>Обработка исключений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CA242F9-70A8-7D48-26BC-7790025114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9511" y="2060293"/>
            <a:ext cx="5236489" cy="4247910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Franklin Gothic Heavy" panose="020B0903020102020204" pitchFamily="34" charset="0"/>
              </a:rPr>
              <a:t>В блоке </a:t>
            </a:r>
            <a:r>
              <a:rPr lang="ru-RU" dirty="0" err="1">
                <a:solidFill>
                  <a:schemeClr val="bg1"/>
                </a:solidFill>
                <a:latin typeface="Franklin Gothic Heavy" panose="020B0903020102020204" pitchFamily="34" charset="0"/>
              </a:rPr>
              <a:t>try</a:t>
            </a:r>
            <a:r>
              <a:rPr lang="ru-RU" dirty="0">
                <a:solidFill>
                  <a:schemeClr val="bg1"/>
                </a:solidFill>
                <a:latin typeface="Franklin Gothic Heavy" panose="020B0903020102020204" pitchFamily="34" charset="0"/>
              </a:rPr>
              <a:t> возникает исключение.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Franklin Gothic Heavy" panose="020B0903020102020204" pitchFamily="34" charset="0"/>
              </a:rPr>
              <a:t>JVM ищет подходящий блок </a:t>
            </a:r>
            <a:r>
              <a:rPr lang="ru-RU" dirty="0" err="1">
                <a:solidFill>
                  <a:schemeClr val="bg1"/>
                </a:solidFill>
                <a:latin typeface="Franklin Gothic Heavy" panose="020B0903020102020204" pitchFamily="34" charset="0"/>
              </a:rPr>
              <a:t>catch</a:t>
            </a:r>
            <a:r>
              <a:rPr lang="ru-RU" dirty="0">
                <a:solidFill>
                  <a:schemeClr val="bg1"/>
                </a:solidFill>
                <a:latin typeface="Franklin Gothic Heavy" panose="020B0903020102020204" pitchFamily="34" charset="0"/>
              </a:rPr>
              <a:t> по порядку их написания.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Franklin Gothic Heavy" panose="020B0903020102020204" pitchFamily="34" charset="0"/>
              </a:rPr>
              <a:t>Если подходящий </a:t>
            </a:r>
            <a:r>
              <a:rPr lang="ru-RU" dirty="0" err="1">
                <a:solidFill>
                  <a:schemeClr val="bg1"/>
                </a:solidFill>
                <a:latin typeface="Franklin Gothic Heavy" panose="020B0903020102020204" pitchFamily="34" charset="0"/>
              </a:rPr>
              <a:t>catch</a:t>
            </a:r>
            <a:r>
              <a:rPr lang="ru-RU" dirty="0">
                <a:solidFill>
                  <a:schemeClr val="bg1"/>
                </a:solidFill>
                <a:latin typeface="Franklin Gothic Heavy" panose="020B0903020102020204" pitchFamily="34" charset="0"/>
              </a:rPr>
              <a:t> найден, управление передается ему.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Franklin Gothic Heavy" panose="020B0903020102020204" pitchFamily="34" charset="0"/>
              </a:rPr>
              <a:t>После выполнения </a:t>
            </a:r>
            <a:r>
              <a:rPr lang="ru-RU" dirty="0" err="1">
                <a:solidFill>
                  <a:schemeClr val="bg1"/>
                </a:solidFill>
                <a:latin typeface="Franklin Gothic Heavy" panose="020B0903020102020204" pitchFamily="34" charset="0"/>
              </a:rPr>
              <a:t>catch</a:t>
            </a:r>
            <a:r>
              <a:rPr lang="ru-RU" dirty="0">
                <a:solidFill>
                  <a:schemeClr val="bg1"/>
                </a:solidFill>
                <a:latin typeface="Franklin Gothic Heavy" panose="020B0903020102020204" pitchFamily="34" charset="0"/>
              </a:rPr>
              <a:t> выполняется блок </a:t>
            </a:r>
            <a:r>
              <a:rPr lang="ru-RU" dirty="0" err="1">
                <a:solidFill>
                  <a:schemeClr val="bg1"/>
                </a:solidFill>
                <a:latin typeface="Franklin Gothic Heavy" panose="020B0903020102020204" pitchFamily="34" charset="0"/>
              </a:rPr>
              <a:t>finally</a:t>
            </a:r>
            <a:r>
              <a:rPr lang="ru-RU" dirty="0">
                <a:solidFill>
                  <a:schemeClr val="bg1"/>
                </a:solidFill>
                <a:latin typeface="Franklin Gothic Heavy" panose="020B0903020102020204" pitchFamily="34" charset="0"/>
              </a:rPr>
              <a:t> (если он есть).</a:t>
            </a:r>
          </a:p>
          <a:p>
            <a:endParaRPr lang="ru-RU" sz="1400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</p:txBody>
      </p:sp>
      <p:pic>
        <p:nvPicPr>
          <p:cNvPr id="7" name="Рисунок 6" descr="Изображение выглядит как текст, снимок экрана, диаграмма, Шрифт">
            <a:extLst>
              <a:ext uri="{FF2B5EF4-FFF2-40B4-BE49-F238E27FC236}">
                <a16:creationId xmlns:a16="http://schemas.microsoft.com/office/drawing/2014/main" id="{9FB6EDFB-272E-FF28-A0EC-EAC5347B75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3071" y="1750107"/>
            <a:ext cx="5044605" cy="4685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7122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A13E3-AD1D-4725-739A-447E9EF61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2865EE30-48A6-EEF7-339E-D1972DD81F5D}"/>
              </a:ext>
            </a:extLst>
          </p:cNvPr>
          <p:cNvSpPr/>
          <p:nvPr/>
        </p:nvSpPr>
        <p:spPr>
          <a:xfrm>
            <a:off x="-219919" y="0"/>
            <a:ext cx="12546957" cy="7234179"/>
          </a:xfrm>
          <a:prstGeom prst="roundRect">
            <a:avLst>
              <a:gd name="adj" fmla="val 0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4F5C3178-D25F-C430-1AFF-77108BBD8BB4}"/>
              </a:ext>
            </a:extLst>
          </p:cNvPr>
          <p:cNvSpPr/>
          <p:nvPr/>
        </p:nvSpPr>
        <p:spPr>
          <a:xfrm>
            <a:off x="-671332" y="-474562"/>
            <a:ext cx="5996992" cy="267253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7312BE64-8864-4C32-3FB9-0F4442C3F3FA}"/>
              </a:ext>
            </a:extLst>
          </p:cNvPr>
          <p:cNvSpPr/>
          <p:nvPr/>
        </p:nvSpPr>
        <p:spPr>
          <a:xfrm>
            <a:off x="6866340" y="-810228"/>
            <a:ext cx="6270926" cy="3008201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96FAF2-4EC7-7FBA-EC6A-0F72AB32C8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4935" y="604555"/>
            <a:ext cx="2624469" cy="1001655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latin typeface="Franklin Gothic Heavy" panose="020B0903020102020204" pitchFamily="34" charset="0"/>
              </a:rPr>
              <a:t>throws</a:t>
            </a:r>
            <a:endParaRPr lang="ru-RU" dirty="0">
              <a:latin typeface="Franklin Gothic Heavy" panose="020B0903020102020204" pitchFamily="34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E13F6A8-C333-28E3-43ED-4994A9E44A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9595" y="2633239"/>
            <a:ext cx="4686066" cy="4247910"/>
          </a:xfrm>
        </p:spPr>
        <p:txBody>
          <a:bodyPr>
            <a:normAutofit/>
          </a:bodyPr>
          <a:lstStyle/>
          <a:p>
            <a:pPr algn="l"/>
            <a:r>
              <a:rPr lang="en-US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- </a:t>
            </a:r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ключевое слово в сигнатуре метода, которое означает, что при определенных условиях данный метод может выбросить исключение.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F38ED8-5C03-85D4-E28A-E62F1B24E332}"/>
              </a:ext>
            </a:extLst>
          </p:cNvPr>
          <p:cNvSpPr txBox="1"/>
          <p:nvPr/>
        </p:nvSpPr>
        <p:spPr>
          <a:xfrm>
            <a:off x="7893933" y="2633239"/>
            <a:ext cx="380807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-</a:t>
            </a:r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 оператор для явного возбуждения(выброса) исключения в коде.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58A882-0EF8-607B-FCC1-C4CEF45AC860}"/>
              </a:ext>
            </a:extLst>
          </p:cNvPr>
          <p:cNvSpPr txBox="1"/>
          <p:nvPr/>
        </p:nvSpPr>
        <p:spPr>
          <a:xfrm>
            <a:off x="8546598" y="590547"/>
            <a:ext cx="22352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latin typeface="Franklin Gothic Heavy" panose="020B0903020102020204" pitchFamily="34" charset="0"/>
              </a:rPr>
              <a:t>throw</a:t>
            </a:r>
            <a:endParaRPr lang="ru-RU" sz="6000" dirty="0">
              <a:latin typeface="Franklin Gothic Heavy" panose="020B09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2692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83625-42AD-7665-DE73-F3E49C7DC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BE76870-A4FA-1487-842B-5FC85DF91050}"/>
              </a:ext>
            </a:extLst>
          </p:cNvPr>
          <p:cNvSpPr/>
          <p:nvPr/>
        </p:nvSpPr>
        <p:spPr>
          <a:xfrm>
            <a:off x="0" y="-2"/>
            <a:ext cx="12192000" cy="739622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E98AFD73-868B-ED1A-0DD5-0F9CD12E0D3A}"/>
              </a:ext>
            </a:extLst>
          </p:cNvPr>
          <p:cNvSpPr/>
          <p:nvPr/>
        </p:nvSpPr>
        <p:spPr>
          <a:xfrm>
            <a:off x="-177479" y="3138664"/>
            <a:ext cx="12546957" cy="5694746"/>
          </a:xfrm>
          <a:prstGeom prst="roundRect">
            <a:avLst>
              <a:gd name="adj" fmla="val 0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D51400-75F4-234E-5A3C-CDF66230A3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0144" y="524619"/>
            <a:ext cx="4800509" cy="2089424"/>
          </a:xfrm>
        </p:spPr>
        <p:txBody>
          <a:bodyPr>
            <a:noAutofit/>
          </a:bodyPr>
          <a:lstStyle/>
          <a:p>
            <a:pPr algn="l"/>
            <a:r>
              <a:rPr lang="ru-RU" sz="4800" dirty="0">
                <a:latin typeface="Franklin Gothic Heavy" panose="020B0903020102020204" pitchFamily="34" charset="0"/>
              </a:rPr>
              <a:t>Иерархия исключений Java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63DD9CC-FDE3-B0E7-914D-9E9729FD5D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0145" y="3410475"/>
            <a:ext cx="3376822" cy="4247910"/>
          </a:xfrm>
        </p:spPr>
        <p:txBody>
          <a:bodyPr>
            <a:normAutofit/>
          </a:bodyPr>
          <a:lstStyle/>
          <a:p>
            <a:pPr algn="l"/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Все исключения — это объекты, унаследованные от общего предка </a:t>
            </a:r>
            <a:r>
              <a:rPr lang="ru-RU" sz="2800" dirty="0" err="1">
                <a:solidFill>
                  <a:schemeClr val="bg1"/>
                </a:solidFill>
                <a:latin typeface="Franklin Gothic Heavy" panose="020B0903020102020204" pitchFamily="34" charset="0"/>
              </a:rPr>
              <a:t>Throwable</a:t>
            </a:r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. Он делится на две основные ветки: </a:t>
            </a:r>
            <a:r>
              <a:rPr lang="en-US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Error </a:t>
            </a:r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и </a:t>
            </a:r>
            <a:r>
              <a:rPr lang="en-US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Exception</a:t>
            </a:r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.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39AF6E4-7287-A410-380F-BC08F7812A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3139" y="-187126"/>
            <a:ext cx="7770471" cy="7770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2551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A06CD-E246-3BD2-8E1D-A60C2EFAE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3391A7A-001E-35D3-E01B-758C3B876D26}"/>
              </a:ext>
            </a:extLst>
          </p:cNvPr>
          <p:cNvSpPr/>
          <p:nvPr/>
        </p:nvSpPr>
        <p:spPr>
          <a:xfrm>
            <a:off x="-137160" y="0"/>
            <a:ext cx="12329160" cy="766572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C73FA66F-1B07-E966-9D88-C1A78BC0D230}"/>
              </a:ext>
            </a:extLst>
          </p:cNvPr>
          <p:cNvSpPr/>
          <p:nvPr/>
        </p:nvSpPr>
        <p:spPr>
          <a:xfrm>
            <a:off x="-219919" y="1539433"/>
            <a:ext cx="12546957" cy="5694746"/>
          </a:xfrm>
          <a:prstGeom prst="roundRect">
            <a:avLst>
              <a:gd name="adj" fmla="val 0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E70528-F8FF-5ADB-D662-6E3A68A348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9511" y="273735"/>
            <a:ext cx="8840074" cy="1001655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latin typeface="Franklin Gothic Heavy" panose="020B0903020102020204" pitchFamily="34" charset="0"/>
              </a:rPr>
              <a:t>Error (unchecked)</a:t>
            </a:r>
            <a:endParaRPr lang="ru-RU" dirty="0">
              <a:latin typeface="Franklin Gothic Heavy" panose="020B0903020102020204" pitchFamily="34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8DEAAD1-CF21-EC1B-8DA8-9B71D66215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9511" y="2060293"/>
            <a:ext cx="10043841" cy="4247910"/>
          </a:xfrm>
        </p:spPr>
        <p:txBody>
          <a:bodyPr>
            <a:normAutofit/>
          </a:bodyPr>
          <a:lstStyle/>
          <a:p>
            <a:pPr algn="l"/>
            <a:r>
              <a:rPr lang="en-US" dirty="0" err="1">
                <a:solidFill>
                  <a:schemeClr val="bg1"/>
                </a:solidFill>
                <a:latin typeface="Franklin Gothic Heavy" panose="020B0903020102020204" pitchFamily="34" charset="0"/>
              </a:rPr>
              <a:t>OutOfMemoryError</a:t>
            </a:r>
            <a:endParaRPr lang="en-US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  <a:p>
            <a:pPr algn="l"/>
            <a:r>
              <a:rPr lang="ru-RU" b="1" dirty="0">
                <a:solidFill>
                  <a:schemeClr val="bg1"/>
                </a:solidFill>
                <a:latin typeface="Franklin Gothic Heavy" panose="020B0903020102020204" pitchFamily="34" charset="0"/>
              </a:rPr>
              <a:t>Когда возникает</a:t>
            </a:r>
            <a:r>
              <a:rPr lang="ru-RU" dirty="0">
                <a:solidFill>
                  <a:schemeClr val="bg1"/>
                </a:solidFill>
                <a:latin typeface="Franklin Gothic Heavy" panose="020B0903020102020204" pitchFamily="34" charset="0"/>
              </a:rPr>
              <a:t>: когда в Java машине заканчивается память</a:t>
            </a:r>
          </a:p>
          <a:p>
            <a:pPr marL="342900" indent="-342900" algn="l">
              <a:buFontTx/>
              <a:buChar char="-"/>
            </a:pPr>
            <a:endParaRPr lang="en-US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  <a:p>
            <a:pPr algn="l"/>
            <a:r>
              <a:rPr lang="en-US" dirty="0" err="1">
                <a:solidFill>
                  <a:schemeClr val="bg1"/>
                </a:solidFill>
                <a:latin typeface="Franklin Gothic Heavy" panose="020B0903020102020204" pitchFamily="34" charset="0"/>
              </a:rPr>
              <a:t>StackOverflowError</a:t>
            </a:r>
            <a:endParaRPr lang="en-US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  <a:p>
            <a:pPr algn="l"/>
            <a:r>
              <a:rPr lang="ru-RU" b="1" dirty="0">
                <a:solidFill>
                  <a:schemeClr val="bg1"/>
                </a:solidFill>
                <a:latin typeface="Franklin Gothic Heavy" panose="020B0903020102020204" pitchFamily="34" charset="0"/>
              </a:rPr>
              <a:t>Когда возникает</a:t>
            </a:r>
            <a:r>
              <a:rPr lang="ru-RU" dirty="0">
                <a:solidFill>
                  <a:schemeClr val="bg1"/>
                </a:solidFill>
                <a:latin typeface="Franklin Gothic Heavy" panose="020B0903020102020204" pitchFamily="34" charset="0"/>
              </a:rPr>
              <a:t>: когда переполняется стек вызовов методов (обычно из-за бесконечной рекурсии)</a:t>
            </a:r>
          </a:p>
          <a:p>
            <a:pPr algn="l"/>
            <a:endParaRPr lang="en-US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  <a:p>
            <a:pPr algn="l"/>
            <a:r>
              <a:rPr lang="en-US" dirty="0" err="1">
                <a:solidFill>
                  <a:schemeClr val="bg1"/>
                </a:solidFill>
                <a:latin typeface="Franklin Gothic Heavy" panose="020B0903020102020204" pitchFamily="34" charset="0"/>
              </a:rPr>
              <a:t>VirtualMachineError</a:t>
            </a:r>
            <a:endParaRPr lang="en-US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  <a:p>
            <a:pPr algn="l"/>
            <a:r>
              <a:rPr lang="ru-RU" dirty="0">
                <a:solidFill>
                  <a:schemeClr val="bg1"/>
                </a:solidFill>
                <a:latin typeface="Franklin Gothic Heavy" panose="020B0903020102020204" pitchFamily="34" charset="0"/>
              </a:rPr>
              <a:t>Когда возникает: ошибка в </a:t>
            </a:r>
            <a:r>
              <a:rPr lang="en-US" dirty="0">
                <a:solidFill>
                  <a:schemeClr val="bg1"/>
                </a:solidFill>
                <a:latin typeface="Franklin Gothic Heavy" panose="020B0903020102020204" pitchFamily="34" charset="0"/>
              </a:rPr>
              <a:t>JVM</a:t>
            </a:r>
            <a:endParaRPr lang="ru-RU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31296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3989B-F8F4-6DA3-DD2B-C21F6DD0C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9389F60-3AD4-E2A3-A676-A6972503C9E1}"/>
              </a:ext>
            </a:extLst>
          </p:cNvPr>
          <p:cNvSpPr/>
          <p:nvPr/>
        </p:nvSpPr>
        <p:spPr>
          <a:xfrm>
            <a:off x="0" y="-2"/>
            <a:ext cx="12327038" cy="739622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C6309DD7-6327-6B1E-5060-2CFD7F4AEE15}"/>
              </a:ext>
            </a:extLst>
          </p:cNvPr>
          <p:cNvSpPr/>
          <p:nvPr/>
        </p:nvSpPr>
        <p:spPr>
          <a:xfrm>
            <a:off x="-219919" y="1539433"/>
            <a:ext cx="12546957" cy="5694746"/>
          </a:xfrm>
          <a:prstGeom prst="roundRect">
            <a:avLst>
              <a:gd name="adj" fmla="val 0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11DCFE-2288-A4CA-2262-85E7875CBB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9511" y="273735"/>
            <a:ext cx="8840074" cy="1001655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latin typeface="Franklin Gothic Heavy" panose="020B0903020102020204" pitchFamily="34" charset="0"/>
              </a:rPr>
              <a:t>Exception</a:t>
            </a:r>
            <a:endParaRPr lang="ru-RU" dirty="0">
              <a:latin typeface="Franklin Gothic Heavy" panose="020B0903020102020204" pitchFamily="34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9EB4A32-D1C5-18CA-5E75-09E60B3C05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9511" y="2060293"/>
            <a:ext cx="10043841" cy="4247910"/>
          </a:xfrm>
        </p:spPr>
        <p:txBody>
          <a:bodyPr>
            <a:normAutofit/>
          </a:bodyPr>
          <a:lstStyle/>
          <a:p>
            <a:pPr algn="l"/>
            <a:r>
              <a:rPr lang="en-US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Runtime Exception (unchecked)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- </a:t>
            </a:r>
            <a:r>
              <a:rPr lang="en-US" sz="2800" dirty="0" err="1">
                <a:solidFill>
                  <a:schemeClr val="bg1"/>
                </a:solidFill>
                <a:latin typeface="Franklin Gothic Heavy" panose="020B0903020102020204" pitchFamily="34" charset="0"/>
              </a:rPr>
              <a:t>исключения</a:t>
            </a:r>
            <a:r>
              <a:rPr lang="en-US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, </a:t>
            </a:r>
            <a:r>
              <a:rPr lang="en-US" sz="2800" dirty="0" err="1">
                <a:solidFill>
                  <a:schemeClr val="bg1"/>
                </a:solidFill>
                <a:latin typeface="Franklin Gothic Heavy" panose="020B0903020102020204" pitchFamily="34" charset="0"/>
              </a:rPr>
              <a:t>наследники</a:t>
            </a:r>
            <a:r>
              <a:rPr lang="en-US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Franklin Gothic Heavy" panose="020B0903020102020204" pitchFamily="34" charset="0"/>
              </a:rPr>
              <a:t>класса</a:t>
            </a:r>
            <a:r>
              <a:rPr lang="en-US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 Exception, </a:t>
            </a:r>
            <a:r>
              <a:rPr lang="en-US" sz="2800" dirty="0" err="1">
                <a:solidFill>
                  <a:schemeClr val="bg1"/>
                </a:solidFill>
                <a:latin typeface="Franklin Gothic Heavy" panose="020B0903020102020204" pitchFamily="34" charset="0"/>
              </a:rPr>
              <a:t>генерируемые</a:t>
            </a:r>
            <a:r>
              <a:rPr lang="en-US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 JVM </a:t>
            </a:r>
            <a:r>
              <a:rPr lang="en-US" sz="2800" dirty="0" err="1">
                <a:solidFill>
                  <a:schemeClr val="bg1"/>
                </a:solidFill>
                <a:latin typeface="Franklin Gothic Heavy" panose="020B0903020102020204" pitchFamily="34" charset="0"/>
              </a:rPr>
              <a:t>во</a:t>
            </a:r>
            <a:r>
              <a:rPr lang="en-US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Franklin Gothic Heavy" panose="020B0903020102020204" pitchFamily="34" charset="0"/>
              </a:rPr>
              <a:t>время</a:t>
            </a:r>
            <a:r>
              <a:rPr lang="en-US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Franklin Gothic Heavy" panose="020B0903020102020204" pitchFamily="34" charset="0"/>
              </a:rPr>
              <a:t>выполнения</a:t>
            </a:r>
            <a:r>
              <a:rPr lang="en-US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Franklin Gothic Heavy" panose="020B0903020102020204" pitchFamily="34" charset="0"/>
              </a:rPr>
              <a:t>программы</a:t>
            </a:r>
            <a:r>
              <a:rPr lang="en-US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. </a:t>
            </a:r>
          </a:p>
          <a:p>
            <a:pPr algn="l"/>
            <a:endParaRPr lang="en-US" sz="2800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  <a:p>
            <a:pPr algn="l"/>
            <a:r>
              <a:rPr lang="en-US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Exception (checked)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- </a:t>
            </a:r>
            <a:r>
              <a:rPr lang="en-US" sz="2800" dirty="0" err="1">
                <a:solidFill>
                  <a:schemeClr val="bg1"/>
                </a:solidFill>
                <a:latin typeface="Franklin Gothic Heavy" panose="020B0903020102020204" pitchFamily="34" charset="0"/>
              </a:rPr>
              <a:t>исключительные</a:t>
            </a:r>
            <a:r>
              <a:rPr lang="en-US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Franklin Gothic Heavy" panose="020B0903020102020204" pitchFamily="34" charset="0"/>
              </a:rPr>
              <a:t>ситуации</a:t>
            </a:r>
            <a:r>
              <a:rPr lang="en-US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, </a:t>
            </a:r>
            <a:r>
              <a:rPr lang="en-US" sz="2800" dirty="0" err="1">
                <a:solidFill>
                  <a:schemeClr val="bg1"/>
                </a:solidFill>
                <a:latin typeface="Franklin Gothic Heavy" panose="020B0903020102020204" pitchFamily="34" charset="0"/>
              </a:rPr>
              <a:t>предвидимые</a:t>
            </a:r>
            <a:r>
              <a:rPr lang="en-US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Franklin Gothic Heavy" panose="020B0903020102020204" pitchFamily="34" charset="0"/>
              </a:rPr>
              <a:t>еще</a:t>
            </a:r>
            <a:r>
              <a:rPr lang="en-US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Franklin Gothic Heavy" panose="020B0903020102020204" pitchFamily="34" charset="0"/>
              </a:rPr>
              <a:t>на</a:t>
            </a:r>
            <a:r>
              <a:rPr lang="en-US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Franklin Gothic Heavy" panose="020B0903020102020204" pitchFamily="34" charset="0"/>
              </a:rPr>
              <a:t>стадии</a:t>
            </a:r>
            <a:r>
              <a:rPr lang="en-US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Franklin Gothic Heavy" panose="020B0903020102020204" pitchFamily="34" charset="0"/>
              </a:rPr>
              <a:t>написания</a:t>
            </a:r>
            <a:r>
              <a:rPr lang="en-US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Franklin Gothic Heavy" panose="020B0903020102020204" pitchFamily="34" charset="0"/>
              </a:rPr>
              <a:t>программы</a:t>
            </a:r>
            <a:endParaRPr lang="ru-RU" sz="2800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89401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88583-4A39-BD53-1823-E9F7E286F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CDF37E4-24DE-6DB2-D4FE-5668E87495A8}"/>
              </a:ext>
            </a:extLst>
          </p:cNvPr>
          <p:cNvSpPr/>
          <p:nvPr/>
        </p:nvSpPr>
        <p:spPr>
          <a:xfrm>
            <a:off x="0" y="-2"/>
            <a:ext cx="12327038" cy="739622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E42CC6F4-7F5F-ADE3-7466-7BEC23BB85AF}"/>
              </a:ext>
            </a:extLst>
          </p:cNvPr>
          <p:cNvSpPr/>
          <p:nvPr/>
        </p:nvSpPr>
        <p:spPr>
          <a:xfrm>
            <a:off x="-121920" y="1539433"/>
            <a:ext cx="12448958" cy="5856790"/>
          </a:xfrm>
          <a:prstGeom prst="roundRect">
            <a:avLst>
              <a:gd name="adj" fmla="val 0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1DC32B-3CEF-4B44-3BCE-19F76C0A23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0355" y="297381"/>
            <a:ext cx="9351290" cy="1001655"/>
          </a:xfrm>
        </p:spPr>
        <p:txBody>
          <a:bodyPr>
            <a:normAutofit fontScale="90000"/>
          </a:bodyPr>
          <a:lstStyle/>
          <a:p>
            <a:r>
              <a:rPr lang="ru-RU" dirty="0">
                <a:latin typeface="Franklin Gothic Heavy" panose="020B0903020102020204" pitchFamily="34" charset="0"/>
              </a:rPr>
              <a:t>Современные конструкции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55BF0F4-5B9B-DA18-D841-C84A8FE115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9511" y="2060293"/>
            <a:ext cx="10043841" cy="4247910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solidFill>
                  <a:schemeClr val="bg1"/>
                </a:solidFill>
                <a:latin typeface="Franklin Gothic Heavy" panose="020B0903020102020204" pitchFamily="34" charset="0"/>
              </a:rPr>
              <a:t>try-with-resource</a:t>
            </a:r>
            <a:endParaRPr lang="ru-RU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  <a:p>
            <a:pPr algn="l"/>
            <a:r>
              <a:rPr lang="ru-RU" dirty="0">
                <a:solidFill>
                  <a:schemeClr val="bg1"/>
                </a:solidFill>
                <a:latin typeface="Franklin Gothic Heavy" panose="020B0903020102020204" pitchFamily="34" charset="0"/>
              </a:rPr>
              <a:t>До появления Java 7 освобождение ресурсов требовало явного вызова метода </a:t>
            </a:r>
            <a:r>
              <a:rPr lang="ru-RU" dirty="0" err="1">
                <a:solidFill>
                  <a:schemeClr val="bg1"/>
                </a:solidFill>
                <a:latin typeface="Franklin Gothic Heavy" panose="020B0903020102020204" pitchFamily="34" charset="0"/>
              </a:rPr>
              <a:t>close</a:t>
            </a:r>
            <a:r>
              <a:rPr lang="ru-RU" dirty="0">
                <a:solidFill>
                  <a:schemeClr val="bg1"/>
                </a:solidFill>
                <a:latin typeface="Franklin Gothic Heavy" panose="020B0903020102020204" pitchFamily="34" charset="0"/>
              </a:rPr>
              <a:t>() в блоке </a:t>
            </a:r>
            <a:r>
              <a:rPr lang="ru-RU" dirty="0" err="1">
                <a:solidFill>
                  <a:schemeClr val="bg1"/>
                </a:solidFill>
                <a:latin typeface="Franklin Gothic Heavy" panose="020B0903020102020204" pitchFamily="34" charset="0"/>
              </a:rPr>
              <a:t>finally</a:t>
            </a:r>
            <a:r>
              <a:rPr lang="ru-RU" dirty="0">
                <a:solidFill>
                  <a:schemeClr val="bg1"/>
                </a:solidFill>
                <a:latin typeface="Franklin Gothic Heavy" panose="020B0903020102020204" pitchFamily="34" charset="0"/>
              </a:rPr>
              <a:t>:</a:t>
            </a:r>
            <a:r>
              <a:rPr lang="en-US" dirty="0">
                <a:solidFill>
                  <a:schemeClr val="bg1"/>
                </a:solidFill>
                <a:latin typeface="Franklin Gothic Heavy" panose="020B0903020102020204" pitchFamily="34" charset="0"/>
              </a:rPr>
              <a:t> </a:t>
            </a:r>
            <a:r>
              <a:rPr lang="ru-RU" dirty="0">
                <a:solidFill>
                  <a:schemeClr val="bg1"/>
                </a:solidFill>
                <a:latin typeface="Franklin Gothic Heavy" panose="020B0903020102020204" pitchFamily="34" charset="0"/>
              </a:rPr>
              <a:t>Начиная с Java 7, спецификация языка вводит конструкцию </a:t>
            </a:r>
            <a:r>
              <a:rPr lang="ru-RU" b="1" dirty="0" err="1">
                <a:solidFill>
                  <a:schemeClr val="bg1"/>
                </a:solidFill>
                <a:latin typeface="Franklin Gothic Heavy" panose="020B0903020102020204" pitchFamily="34" charset="0"/>
              </a:rPr>
              <a:t>try-with-resources</a:t>
            </a:r>
            <a:r>
              <a:rPr lang="ru-RU" dirty="0">
                <a:solidFill>
                  <a:schemeClr val="bg1"/>
                </a:solidFill>
                <a:latin typeface="Franklin Gothic Heavy" panose="020B0903020102020204" pitchFamily="34" charset="0"/>
              </a:rPr>
              <a:t>, обеспечивающую автоматическое закрытие ресурсов, реализующих интерфейс </a:t>
            </a:r>
            <a:r>
              <a:rPr lang="ru-RU" dirty="0" err="1">
                <a:solidFill>
                  <a:schemeClr val="bg1"/>
                </a:solidFill>
                <a:latin typeface="Franklin Gothic Heavy" panose="020B0903020102020204" pitchFamily="34" charset="0"/>
              </a:rPr>
              <a:t>AutoCloseable</a:t>
            </a:r>
            <a:r>
              <a:rPr lang="ru-RU" dirty="0">
                <a:solidFill>
                  <a:schemeClr val="bg1"/>
                </a:solidFill>
                <a:latin typeface="Franklin Gothic Heavy" panose="020B0903020102020204" pitchFamily="34" charset="0"/>
              </a:rPr>
              <a:t>.</a:t>
            </a:r>
            <a:endParaRPr lang="en-US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  <a:p>
            <a:pPr algn="l"/>
            <a:endParaRPr lang="ru-RU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  <a:p>
            <a:pPr algn="l"/>
            <a:endParaRPr lang="ru-RU" sz="1400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6753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3C907-246C-90B8-98D5-CA0F5B010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259A019-423A-563C-3683-C40F7E25B2F4}"/>
              </a:ext>
            </a:extLst>
          </p:cNvPr>
          <p:cNvSpPr/>
          <p:nvPr/>
        </p:nvSpPr>
        <p:spPr>
          <a:xfrm>
            <a:off x="0" y="-2"/>
            <a:ext cx="12327038" cy="739622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60D01AC6-3547-4276-626F-B7523ECB7BFF}"/>
              </a:ext>
            </a:extLst>
          </p:cNvPr>
          <p:cNvSpPr/>
          <p:nvPr/>
        </p:nvSpPr>
        <p:spPr>
          <a:xfrm>
            <a:off x="-121920" y="1539433"/>
            <a:ext cx="12448958" cy="5856790"/>
          </a:xfrm>
          <a:prstGeom prst="roundRect">
            <a:avLst>
              <a:gd name="adj" fmla="val 0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026C73-66BF-720B-5CE8-FC25117C6C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0355" y="297381"/>
            <a:ext cx="9351290" cy="1001655"/>
          </a:xfrm>
        </p:spPr>
        <p:txBody>
          <a:bodyPr>
            <a:normAutofit fontScale="90000"/>
          </a:bodyPr>
          <a:lstStyle/>
          <a:p>
            <a:r>
              <a:rPr lang="ru-RU" dirty="0">
                <a:latin typeface="Franklin Gothic Heavy" panose="020B0903020102020204" pitchFamily="34" charset="0"/>
              </a:rPr>
              <a:t>Современные конструкции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C50DFA1-BF98-E471-0F50-7CD765B530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9511" y="2060293"/>
            <a:ext cx="10043841" cy="4247910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solidFill>
                  <a:schemeClr val="bg1"/>
                </a:solidFill>
                <a:latin typeface="Franklin Gothic Heavy" panose="020B0903020102020204" pitchFamily="34" charset="0"/>
              </a:rPr>
              <a:t>multi-catch</a:t>
            </a:r>
            <a:endParaRPr lang="ru-RU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  <a:p>
            <a:pPr algn="l"/>
            <a:r>
              <a:rPr lang="ru-RU" dirty="0">
                <a:solidFill>
                  <a:schemeClr val="bg1"/>
                </a:solidFill>
                <a:latin typeface="Franklin Gothic Heavy" panose="020B0903020102020204" pitchFamily="34" charset="0"/>
              </a:rPr>
              <a:t>- Обработка нескольких типов исключений одним блоком </a:t>
            </a:r>
            <a:r>
              <a:rPr lang="ru-RU" dirty="0" err="1">
                <a:solidFill>
                  <a:schemeClr val="bg1"/>
                </a:solidFill>
                <a:latin typeface="Franklin Gothic Heavy" panose="020B0903020102020204" pitchFamily="34" charset="0"/>
              </a:rPr>
              <a:t>catch</a:t>
            </a:r>
            <a:r>
              <a:rPr lang="ru-RU" dirty="0">
                <a:solidFill>
                  <a:schemeClr val="bg1"/>
                </a:solidFill>
                <a:latin typeface="Franklin Gothic Heavy" panose="020B0903020102020204" pitchFamily="34" charset="0"/>
              </a:rPr>
              <a:t>, если логика их обработки одинакова. Начиная с Java 7, спецификация языка предоставляет возможность объединения нескольких типов исключений в одном блоке </a:t>
            </a:r>
            <a:r>
              <a:rPr lang="ru-RU" dirty="0" err="1">
                <a:solidFill>
                  <a:schemeClr val="bg1"/>
                </a:solidFill>
                <a:latin typeface="Franklin Gothic Heavy" panose="020B0903020102020204" pitchFamily="34" charset="0"/>
              </a:rPr>
              <a:t>catch</a:t>
            </a:r>
            <a:r>
              <a:rPr lang="ru-RU" dirty="0">
                <a:solidFill>
                  <a:schemeClr val="bg1"/>
                </a:solidFill>
                <a:latin typeface="Franklin Gothic Heavy" panose="020B0903020102020204" pitchFamily="34" charset="0"/>
              </a:rPr>
              <a:t> с использованием оператора логического ИЛИ (|):</a:t>
            </a:r>
          </a:p>
          <a:p>
            <a:pPr algn="l"/>
            <a:r>
              <a:rPr lang="ru-RU" dirty="0" err="1">
                <a:solidFill>
                  <a:schemeClr val="bg1"/>
                </a:solidFill>
                <a:latin typeface="Franklin Gothic Heavy" panose="020B0903020102020204" pitchFamily="34" charset="0"/>
              </a:rPr>
              <a:t>catch</a:t>
            </a:r>
            <a:r>
              <a:rPr lang="ru-RU" dirty="0">
                <a:solidFill>
                  <a:schemeClr val="bg1"/>
                </a:solidFill>
                <a:latin typeface="Franklin Gothic Heavy" panose="020B0903020102020204" pitchFamily="34" charset="0"/>
              </a:rPr>
              <a:t> (</a:t>
            </a:r>
            <a:r>
              <a:rPr lang="ru-RU" dirty="0" err="1">
                <a:solidFill>
                  <a:schemeClr val="bg1"/>
                </a:solidFill>
                <a:latin typeface="Franklin Gothic Heavy" panose="020B0903020102020204" pitchFamily="34" charset="0"/>
              </a:rPr>
              <a:t>IOException</a:t>
            </a:r>
            <a:r>
              <a:rPr lang="ru-RU" dirty="0">
                <a:solidFill>
                  <a:schemeClr val="bg1"/>
                </a:solidFill>
                <a:latin typeface="Franklin Gothic Heavy" panose="020B0903020102020204" pitchFamily="34" charset="0"/>
              </a:rPr>
              <a:t> | </a:t>
            </a:r>
            <a:r>
              <a:rPr lang="ru-RU" dirty="0" err="1">
                <a:solidFill>
                  <a:schemeClr val="bg1"/>
                </a:solidFill>
                <a:latin typeface="Franklin Gothic Heavy" panose="020B0903020102020204" pitchFamily="34" charset="0"/>
              </a:rPr>
              <a:t>SQLException</a:t>
            </a:r>
            <a:r>
              <a:rPr lang="ru-RU" dirty="0">
                <a:solidFill>
                  <a:schemeClr val="bg1"/>
                </a:solidFill>
                <a:latin typeface="Franklin Gothic Heavy" panose="020B0903020102020204" pitchFamily="34" charset="0"/>
              </a:rPr>
              <a:t> e) { ... }</a:t>
            </a:r>
          </a:p>
          <a:p>
            <a:pPr algn="l"/>
            <a:endParaRPr lang="ru-RU" sz="1400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38131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3D2DC-E564-1C9D-DC74-98F9E4105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74970B3-6150-7B99-D5B7-122E3139695C}"/>
              </a:ext>
            </a:extLst>
          </p:cNvPr>
          <p:cNvSpPr/>
          <p:nvPr/>
        </p:nvSpPr>
        <p:spPr>
          <a:xfrm>
            <a:off x="-67519" y="0"/>
            <a:ext cx="12327038" cy="739622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E0AC77A5-6EC2-5163-7AA8-1694FC17B89F}"/>
              </a:ext>
            </a:extLst>
          </p:cNvPr>
          <p:cNvSpPr/>
          <p:nvPr/>
        </p:nvSpPr>
        <p:spPr>
          <a:xfrm>
            <a:off x="5613896" y="449301"/>
            <a:ext cx="6191709" cy="6142418"/>
          </a:xfrm>
          <a:prstGeom prst="roundRect">
            <a:avLst>
              <a:gd name="adj" fmla="val 0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7F60F5-E51F-FF21-22DC-2C8B274AB7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0537" y="774562"/>
            <a:ext cx="5892982" cy="2775789"/>
          </a:xfrm>
        </p:spPr>
        <p:txBody>
          <a:bodyPr>
            <a:normAutofit/>
          </a:bodyPr>
          <a:lstStyle/>
          <a:p>
            <a:pPr algn="l"/>
            <a:r>
              <a:rPr lang="ru-RU" dirty="0">
                <a:latin typeface="Franklin Gothic Heavy" panose="020B0903020102020204" pitchFamily="34" charset="0"/>
              </a:rPr>
              <a:t>создание собственных исключений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DDE7A0E-916A-8C4D-004D-5098DAD8FF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61254" y="774562"/>
            <a:ext cx="5545623" cy="5173954"/>
          </a:xfrm>
        </p:spPr>
        <p:txBody>
          <a:bodyPr>
            <a:normAutofit/>
          </a:bodyPr>
          <a:lstStyle/>
          <a:p>
            <a:pPr algn="l"/>
            <a:r>
              <a:rPr lang="ru-RU" sz="30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Стандартных исключений не хватает, они слишком общие, чтобы использовать в различных программах. </a:t>
            </a:r>
            <a:endParaRPr lang="ru-RU" sz="1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441219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2854</TotalTime>
  <Words>377</Words>
  <Application>Microsoft Office PowerPoint</Application>
  <PresentationFormat>Широкоэкранный</PresentationFormat>
  <Paragraphs>52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8" baseType="lpstr">
      <vt:lpstr>Arial</vt:lpstr>
      <vt:lpstr>Arial Black</vt:lpstr>
      <vt:lpstr>Calibri</vt:lpstr>
      <vt:lpstr>Calibri Light</vt:lpstr>
      <vt:lpstr>Franklin Gothic Heavy</vt:lpstr>
      <vt:lpstr>Тема Office</vt:lpstr>
      <vt:lpstr>Механизм</vt:lpstr>
      <vt:lpstr>Исключения в Java</vt:lpstr>
      <vt:lpstr>Механизм исключений</vt:lpstr>
      <vt:lpstr>Механизм исключений</vt:lpstr>
      <vt:lpstr>Обработка исключений</vt:lpstr>
      <vt:lpstr>throws</vt:lpstr>
      <vt:lpstr>Иерархия исключений Java</vt:lpstr>
      <vt:lpstr>Error (unchecked)</vt:lpstr>
      <vt:lpstr>Exception</vt:lpstr>
      <vt:lpstr>Современные конструкции</vt:lpstr>
      <vt:lpstr>Современные конструкции</vt:lpstr>
      <vt:lpstr>создание собственных исключений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Шитикова Ксения</dc:creator>
  <cp:lastModifiedBy>Шитикова Ксения</cp:lastModifiedBy>
  <cp:revision>7</cp:revision>
  <dcterms:created xsi:type="dcterms:W3CDTF">2026-02-25T17:39:58Z</dcterms:created>
  <dcterms:modified xsi:type="dcterms:W3CDTF">2026-05-01T19:28:41Z</dcterms:modified>
</cp:coreProperties>
</file>